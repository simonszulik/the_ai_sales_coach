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90" r:id="rId7"/>
    <p:sldId id="291" r:id="rId8"/>
    <p:sldId id="277" r:id="rId9"/>
    <p:sldId id="293" r:id="rId10"/>
    <p:sldId id="292" r:id="rId11"/>
    <p:sldId id="289" r:id="rId12"/>
    <p:sldId id="268" r:id="rId13"/>
    <p:sldId id="264" r:id="rId14"/>
    <p:sldId id="278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5042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2026-04-09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2026-04-09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3400000"/>
            <a:ext cx="4941771" cy="1122202"/>
          </a:xfrm>
        </p:spPr>
        <p:txBody>
          <a:bodyPr/>
          <a:lstStyle/>
          <a:p>
            <a:r>
              <a:rPr lang="en-US" dirty="0"/>
              <a:t>AI Sales Coach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4550000"/>
            <a:ext cx="5462106" cy="2100000"/>
          </a:xfrm>
        </p:spPr>
        <p:txBody>
          <a:bodyPr/>
          <a:lstStyle/>
          <a:p>
            <a:r>
              <a:rPr lang="en-US" sz="1600" b="1" dirty="0"/>
              <a:t>Team:</a:t>
            </a:r>
            <a:r>
              <a:rPr lang="en-US" sz="1600" dirty="0"/>
              <a:t> Segfault after Midnight</a:t>
            </a:r>
          </a:p>
          <a:p>
            <a:r>
              <a:rPr lang="en-US" sz="1600" b="1" dirty="0"/>
              <a:t>Group:</a:t>
            </a:r>
            <a:r>
              <a:rPr lang="en-US" sz="1600" dirty="0"/>
              <a:t> Cloover 5</a:t>
            </a:r>
          </a:p>
          <a:p>
            <a:endParaRPr lang="en-US" sz="1000" dirty="0"/>
          </a:p>
          <a:p>
            <a:r>
              <a:rPr lang="en-US" sz="1400" b="1" dirty="0"/>
              <a:t>Members</a:t>
            </a:r>
          </a:p>
          <a:p>
            <a:r>
              <a:rPr lang="en-US" sz="1400" i="1" dirty="0">
                <a:solidFill>
                  <a:srgbClr val="9A8A73"/>
                </a:solidFill>
              </a:rPr>
              <a:t>Simon Szulik, Mehdy Shinwari, Justin Weich, Valentina </a:t>
            </a:r>
            <a:r>
              <a:rPr lang="en-US" sz="1400" i="1" dirty="0" err="1">
                <a:solidFill>
                  <a:srgbClr val="9A8A73"/>
                </a:solidFill>
              </a:rPr>
              <a:t>Varnakhina</a:t>
            </a:r>
            <a:r>
              <a:rPr lang="en-US" sz="1400" i="1" dirty="0">
                <a:solidFill>
                  <a:srgbClr val="9A8A7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0000" y="2400000"/>
            <a:ext cx="5500000" cy="2200000"/>
          </a:xfrm>
        </p:spPr>
        <p:txBody>
          <a:bodyPr anchor="ctr"/>
          <a:lstStyle/>
          <a:p>
            <a:r>
              <a:rPr lang="en-US" sz="3600" dirty="0"/>
              <a:t>Introducing </a:t>
            </a:r>
            <a:r>
              <a:rPr lang="en-US" sz="3600" b="1" dirty="0">
                <a:solidFill>
                  <a:srgbClr val="B85042"/>
                </a:solidFill>
              </a:rPr>
              <a:t>David</a:t>
            </a:r>
          </a:p>
          <a:p>
            <a:r>
              <a:rPr lang="en-US" sz="2000" i="1" dirty="0">
                <a:solidFill>
                  <a:srgbClr val="6B5B45"/>
                </a:solidFill>
              </a:rPr>
              <a:t>your AI Sales Coach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373D-3C75-CBD2-6F18-DC39E772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91030F-66A8-0285-8886-4FE6C178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9413-61B7-F733-291C-41085809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F976-9199-C1C5-F10A-48E09131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5F8D41-9725-2B08-AB1A-2C25C64D1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870" y="334977"/>
            <a:ext cx="7486100" cy="589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7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CF28-6424-9667-1A6A-5F49F221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773B75-1437-A31D-E6D5-BA6A0129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3BF6E-B1F3-A2B1-E9BD-8683D9919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1622A-24C6-00CB-DC0B-77BC9D35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2970B0-67D1-273B-2CF9-D5EB71384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37"/>
          <a:stretch>
            <a:fillRect/>
          </a:stretch>
        </p:blipFill>
        <p:spPr>
          <a:xfrm>
            <a:off x="2588405" y="923454"/>
            <a:ext cx="7256396" cy="476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9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12209A-86B8-A1A5-CCDF-3DF5C3DD3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31" y="248615"/>
            <a:ext cx="7326553" cy="601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536C-593E-4310-CA46-AFEB3A84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2F2C26-EE61-D5F0-C941-0F261ECA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955E-5DD6-AD6B-5132-64335078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4BCC0-03BD-82C7-A8B7-0374691E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19AF73-2CD3-87B5-903E-6459738E9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882" y="235389"/>
            <a:ext cx="7299680" cy="601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1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6EB9-1DE1-DA0F-2EB9-40B12BAD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E8E4C0-7345-420A-6D81-B5B8E60C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FDC4-386B-837B-E488-C655626F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8D3BD-0D4E-AC7C-DD69-54B8B8FA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2062A6-7937-FA86-B488-4C38C6670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916" y="221393"/>
            <a:ext cx="6392167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02920" y="320040"/>
            <a:ext cx="109728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00" b="1">
                <a:solidFill>
                  <a:srgbClr val="3A3A3A"/>
                </a:solidFill>
              </a:rPr>
              <a:t>ARCHITECTURE</a:t>
            </a:r>
          </a:p>
          <a:p>
            <a:r>
              <a:rPr sz="1300" i="1">
                <a:solidFill>
                  <a:srgbClr val="8A7A5E"/>
                </a:solidFill>
              </a:rPr>
              <a:t>How a lead becomes a live pitch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40B33C-FC06-2F3B-2013-6DAABB1F909C}"/>
              </a:ext>
            </a:extLst>
          </p:cNvPr>
          <p:cNvGrpSpPr/>
          <p:nvPr/>
        </p:nvGrpSpPr>
        <p:grpSpPr>
          <a:xfrm>
            <a:off x="2273809" y="1318477"/>
            <a:ext cx="7589520" cy="548640"/>
            <a:chOff x="2301087" y="1234440"/>
            <a:chExt cx="7589520" cy="548640"/>
          </a:xfrm>
        </p:grpSpPr>
        <p:sp>
          <p:nvSpPr>
            <p:cNvPr id="24" name="Rounded Rectangle 23"/>
            <p:cNvSpPr/>
            <p:nvPr/>
          </p:nvSpPr>
          <p:spPr>
            <a:xfrm>
              <a:off x="2301087" y="1234440"/>
              <a:ext cx="7589520" cy="5486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B850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85800" tIns="36576" rIns="182880" bIns="36576" rtlCol="0" anchor="ctr"/>
            <a:lstStyle/>
            <a:p>
              <a:pPr algn="l"/>
              <a:r>
                <a:rPr sz="1400" b="1" dirty="0">
                  <a:solidFill>
                    <a:srgbClr val="B85042"/>
                  </a:solidFill>
                </a:rPr>
                <a:t>INPUT</a:t>
              </a:r>
              <a:r>
                <a:rPr sz="1300" dirty="0">
                  <a:solidFill>
                    <a:srgbClr val="3A3A3A"/>
                  </a:solidFill>
                </a:rPr>
                <a:t>   Lead form — customer name + location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465679" y="1316736"/>
              <a:ext cx="384048" cy="384048"/>
            </a:xfrm>
            <a:prstGeom prst="ellipse">
              <a:avLst/>
            </a:prstGeom>
            <a:solidFill>
              <a:srgbClr val="B8504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sp>
        <p:nvSpPr>
          <p:cNvPr id="26" name="Down Arrow 25"/>
          <p:cNvSpPr/>
          <p:nvPr/>
        </p:nvSpPr>
        <p:spPr>
          <a:xfrm>
            <a:off x="5989320" y="1926562"/>
            <a:ext cx="201168" cy="182880"/>
          </a:xfrm>
          <a:prstGeom prst="downArrow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C20D84-BC1C-1395-0F63-230174CD5F59}"/>
              </a:ext>
            </a:extLst>
          </p:cNvPr>
          <p:cNvGrpSpPr/>
          <p:nvPr/>
        </p:nvGrpSpPr>
        <p:grpSpPr>
          <a:xfrm>
            <a:off x="2273809" y="2178530"/>
            <a:ext cx="7589520" cy="548640"/>
            <a:chOff x="2301087" y="2066544"/>
            <a:chExt cx="7589520" cy="548640"/>
          </a:xfrm>
        </p:grpSpPr>
        <p:sp>
          <p:nvSpPr>
            <p:cNvPr id="2" name="Rounded Rectangle 23">
              <a:extLst>
                <a:ext uri="{FF2B5EF4-FFF2-40B4-BE49-F238E27FC236}">
                  <a16:creationId xmlns:a16="http://schemas.microsoft.com/office/drawing/2014/main" id="{B0F4779C-5044-264F-0ECC-80819F642B2A}"/>
                </a:ext>
              </a:extLst>
            </p:cNvPr>
            <p:cNvSpPr/>
            <p:nvPr/>
          </p:nvSpPr>
          <p:spPr>
            <a:xfrm>
              <a:off x="2301087" y="2066544"/>
              <a:ext cx="7589520" cy="5486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B8504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85800" tIns="36576" rIns="182880" bIns="36576" rtlCol="0" anchor="ctr"/>
            <a:lstStyle/>
            <a:p>
              <a:pPr algn="l"/>
              <a:endParaRPr sz="1300" dirty="0">
                <a:solidFill>
                  <a:srgbClr val="3A3A3A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2465679" y="2145132"/>
              <a:ext cx="384048" cy="384048"/>
            </a:xfrm>
            <a:prstGeom prst="ellipse">
              <a:avLst/>
            </a:prstGeom>
            <a:solidFill>
              <a:srgbClr val="B8504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014319" y="2145132"/>
              <a:ext cx="3474720" cy="38404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b="1" dirty="0">
                  <a:solidFill>
                    <a:srgbClr val="B85042"/>
                  </a:solidFill>
                </a:rPr>
                <a:t>ENRICHMENT</a:t>
              </a:r>
              <a:r>
                <a:rPr sz="1300" dirty="0">
                  <a:solidFill>
                    <a:srgbClr val="3A3A3A"/>
                  </a:solidFill>
                </a:rPr>
                <a:t>   7 parallel agents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250564" y="3004567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 dirty="0">
                <a:solidFill>
                  <a:srgbClr val="3A3A3A"/>
                </a:solidFill>
              </a:rPr>
              <a:t>Geocoding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6132" y="3004567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>
                <a:solidFill>
                  <a:srgbClr val="3A3A3A"/>
                </a:solidFill>
              </a:rPr>
              <a:t>Solar
potential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1700" y="3004567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>
                <a:solidFill>
                  <a:srgbClr val="3A3A3A"/>
                </a:solidFill>
              </a:rPr>
              <a:t>Energy
prices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97576" y="3004567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>
                <a:solidFill>
                  <a:srgbClr val="3A3A3A"/>
                </a:solidFill>
              </a:rPr>
              <a:t>Roof
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13144" y="3008104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>
                <a:solidFill>
                  <a:srgbClr val="3A3A3A"/>
                </a:solidFill>
              </a:rPr>
              <a:t>OSINT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1940" y="3004567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>
                <a:solidFill>
                  <a:srgbClr val="3A3A3A"/>
                </a:solidFill>
              </a:rPr>
              <a:t>Subsidies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1344" y="3004567"/>
            <a:ext cx="941986" cy="63727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>
                <a:solidFill>
                  <a:srgbClr val="3A3A3A"/>
                </a:solidFill>
              </a:rPr>
              <a:t>Market
context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995263" y="3691359"/>
            <a:ext cx="181787" cy="169940"/>
          </a:xfrm>
          <a:prstGeom prst="downArrow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301087" y="3904216"/>
            <a:ext cx="75895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rIns="182880" bIns="36576" rtlCol="0" anchor="ctr"/>
          <a:lstStyle/>
          <a:p>
            <a:pPr algn="l"/>
            <a:r>
              <a:rPr sz="1400" b="1" dirty="0">
                <a:solidFill>
                  <a:srgbClr val="B85042"/>
                </a:solidFill>
              </a:rPr>
              <a:t>PIPELINE</a:t>
            </a:r>
            <a:r>
              <a:rPr sz="1300" dirty="0">
                <a:solidFill>
                  <a:srgbClr val="3A3A3A"/>
                </a:solidFill>
              </a:rPr>
              <a:t>   Opportunity score </a:t>
            </a:r>
            <a:r>
              <a:rPr lang="de-DE" sz="1300" dirty="0">
                <a:solidFill>
                  <a:srgbClr val="3A3A3A"/>
                </a:solidFill>
              </a:rPr>
              <a:t>+ </a:t>
            </a:r>
            <a:r>
              <a:rPr sz="1300" dirty="0">
                <a:solidFill>
                  <a:srgbClr val="3A3A3A"/>
                </a:solidFill>
              </a:rPr>
              <a:t>offer tiers + financing </a:t>
            </a:r>
            <a:r>
              <a:rPr lang="de-DE" sz="1300" dirty="0">
                <a:solidFill>
                  <a:srgbClr val="3A3A3A"/>
                </a:solidFill>
              </a:rPr>
              <a:t>+ </a:t>
            </a:r>
            <a:r>
              <a:rPr sz="1300" dirty="0">
                <a:solidFill>
                  <a:srgbClr val="3A3A3A"/>
                </a:solidFill>
              </a:rPr>
              <a:t>coaching tips</a:t>
            </a:r>
            <a:r>
              <a:rPr lang="de-DE" sz="1300" dirty="0">
                <a:solidFill>
                  <a:srgbClr val="3A3A3A"/>
                </a:solidFill>
              </a:rPr>
              <a:t> + </a:t>
            </a:r>
            <a:r>
              <a:rPr lang="de-DE" sz="1300" dirty="0" err="1">
                <a:solidFill>
                  <a:srgbClr val="3A3A3A"/>
                </a:solidFill>
              </a:rPr>
              <a:t>roof</a:t>
            </a:r>
            <a:r>
              <a:rPr lang="de-DE" sz="1300" dirty="0">
                <a:solidFill>
                  <a:srgbClr val="3A3A3A"/>
                </a:solidFill>
              </a:rPr>
              <a:t> </a:t>
            </a:r>
            <a:r>
              <a:rPr lang="de-DE" sz="1300" dirty="0" err="1">
                <a:solidFill>
                  <a:srgbClr val="3A3A3A"/>
                </a:solidFill>
              </a:rPr>
              <a:t>analysis</a:t>
            </a:r>
            <a:endParaRPr sz="1300" dirty="0">
              <a:solidFill>
                <a:srgbClr val="3A3A3A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2465679" y="3980171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989320" y="4525265"/>
            <a:ext cx="201168" cy="182880"/>
          </a:xfrm>
          <a:prstGeom prst="downArrow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301087" y="4757412"/>
            <a:ext cx="75895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rIns="182880" bIns="36576" rtlCol="0" anchor="ctr"/>
          <a:lstStyle/>
          <a:p>
            <a:pPr algn="l"/>
            <a:r>
              <a:rPr sz="1400" b="1" dirty="0">
                <a:solidFill>
                  <a:srgbClr val="B85042"/>
                </a:solidFill>
              </a:rPr>
              <a:t>OUTPUT</a:t>
            </a:r>
            <a:r>
              <a:rPr sz="1300" dirty="0">
                <a:solidFill>
                  <a:srgbClr val="3A3A3A"/>
                </a:solidFill>
              </a:rPr>
              <a:t>   Dashboard</a:t>
            </a:r>
            <a:r>
              <a:rPr lang="de-DE" sz="1300" dirty="0">
                <a:solidFill>
                  <a:srgbClr val="3A3A3A"/>
                </a:solidFill>
              </a:rPr>
              <a:t>:</a:t>
            </a:r>
            <a:r>
              <a:rPr sz="1300" dirty="0">
                <a:solidFill>
                  <a:srgbClr val="3A3A3A"/>
                </a:solidFill>
              </a:rPr>
              <a:t> Overview · Roof · Offers · Market · Pitch Assistant</a:t>
            </a:r>
          </a:p>
        </p:txBody>
      </p:sp>
      <p:sp>
        <p:nvSpPr>
          <p:cNvPr id="41" name="Oval 40"/>
          <p:cNvSpPr/>
          <p:nvPr/>
        </p:nvSpPr>
        <p:spPr>
          <a:xfrm>
            <a:off x="2465679" y="4855465"/>
            <a:ext cx="384048" cy="38404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01087" y="5543795"/>
            <a:ext cx="7589520" cy="384048"/>
          </a:xfrm>
          <a:prstGeom prst="round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ctr"/>
            <a:r>
              <a:rPr sz="1100" b="1">
                <a:solidFill>
                  <a:srgbClr val="E7E8D1"/>
                </a:solidFill>
              </a:rPr>
              <a:t>CI / CD   </a:t>
            </a:r>
            <a:r>
              <a:rPr sz="1100">
                <a:solidFill>
                  <a:srgbClr val="FFFFFF"/>
                </a:solidFill>
              </a:rPr>
              <a:t>push  →  auto-pull  →  containers rebuild  →  live in prod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981D5A-30AD-8750-D073-502263156778}"/>
              </a:ext>
            </a:extLst>
          </p:cNvPr>
          <p:cNvCxnSpPr>
            <a:stCxn id="29" idx="0"/>
          </p:cNvCxnSpPr>
          <p:nvPr/>
        </p:nvCxnSpPr>
        <p:spPr>
          <a:xfrm>
            <a:off x="2721557" y="3004567"/>
            <a:ext cx="949618" cy="865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5E6B74-6194-D232-9882-6DE6D82B04C5}"/>
              </a:ext>
            </a:extLst>
          </p:cNvPr>
          <p:cNvCxnSpPr>
            <a:cxnSpLocks/>
          </p:cNvCxnSpPr>
          <p:nvPr/>
        </p:nvCxnSpPr>
        <p:spPr>
          <a:xfrm>
            <a:off x="2721557" y="3004567"/>
            <a:ext cx="964614" cy="865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wn Arrow 25">
            <a:extLst>
              <a:ext uri="{FF2B5EF4-FFF2-40B4-BE49-F238E27FC236}">
                <a16:creationId xmlns:a16="http://schemas.microsoft.com/office/drawing/2014/main" id="{2305C578-1E6C-454A-B354-E57D6FD09078}"/>
              </a:ext>
            </a:extLst>
          </p:cNvPr>
          <p:cNvSpPr/>
          <p:nvPr/>
        </p:nvSpPr>
        <p:spPr>
          <a:xfrm>
            <a:off x="5977675" y="2766824"/>
            <a:ext cx="181787" cy="169940"/>
          </a:xfrm>
          <a:prstGeom prst="downArrow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/>
          <a:lstStyle/>
          <a:p>
            <a:r>
              <a:rPr lang="en-US" dirty="0"/>
              <a:t>CHALLENGE VS. OUR BUILD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/>
          <a:lstStyle/>
          <a:p>
            <a:r>
              <a:rPr lang="en-US" dirty="0"/>
              <a:t>CHALLENGE PILLARS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noProof="1"/>
              <a:t>Market &amp; regulatory context</a:t>
            </a:r>
            <a:br>
              <a:rPr lang="en-US" noProof="1"/>
            </a:br>
            <a:r>
              <a:rPr lang="en-US" noProof="1"/>
              <a:t>Energy price trends, carbon pricing, subsidies, regulations, why now</a:t>
            </a:r>
          </a:p>
          <a:p>
            <a:r>
              <a:rPr lang="en-US" b="1" noProof="1"/>
              <a:t>Compelling offer</a:t>
            </a:r>
            <a:br>
              <a:rPr lang="en-US" noProof="1"/>
            </a:br>
            <a:r>
              <a:rPr lang="en-US" noProof="1"/>
              <a:t>2–3 personalised packages at different levels of ambition with justifications</a:t>
            </a:r>
          </a:p>
          <a:p>
            <a:r>
              <a:rPr lang="en-US" b="1" noProof="1"/>
              <a:t>Financing strategy</a:t>
            </a:r>
            <a:br>
              <a:rPr lang="en-US" noProof="1"/>
            </a:br>
            <a:r>
              <a:rPr lang="en-US" noProof="1"/>
              <a:t>Cash, partial financing, full financing scenarios with subsidies integrated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/>
          <a:lstStyle/>
          <a:p>
            <a:r>
              <a:rPr lang="en-US" dirty="0"/>
              <a:t>WHAT WE BUILT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1"/>
              <a:t>Sourcing via orchestrated agents</a:t>
            </a:r>
            <a:br>
              <a:rPr lang="en-US" noProof="1"/>
            </a:br>
            <a:r>
              <a:rPr lang="en-US" noProof="1"/>
              <a:t>7 parallel agents: roof, solar, energy, subsidies, OSINT, market.</a:t>
            </a:r>
          </a:p>
          <a:p>
            <a:r>
              <a:rPr lang="en-US" b="1" noProof="1"/>
              <a:t>3 offer tiers + pitch assistant</a:t>
            </a:r>
            <a:br>
              <a:rPr lang="en-US" noProof="1"/>
            </a:br>
            <a:r>
              <a:rPr lang="en-US" noProof="1"/>
              <a:t>Good / Better / Best with cash, loan and lease scenarios and concrete advice for sales pitch</a:t>
            </a:r>
          </a:p>
          <a:p>
            <a:r>
              <a:rPr lang="en-US" b="1" noProof="1"/>
              <a:t>Financing scenarios</a:t>
            </a:r>
            <a:br>
              <a:rPr lang="en-US" noProof="1"/>
            </a:br>
            <a:r>
              <a:rPr lang="en-US" noProof="1"/>
              <a:t>Concrete financing scenarios integrated with locally available subsidies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WHERE WE GO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100000"/>
            <a:ext cx="5111750" cy="310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B85042"/>
                </a:solidFill>
              </a:rPr>
              <a:t>SCHUFA integration</a:t>
            </a:r>
          </a:p>
          <a:p>
            <a:r>
              <a:rPr lang="en-US" sz="1600" dirty="0"/>
              <a:t>Pull credit score to sharpen financing tiers and risk-adjusted pricing.</a:t>
            </a:r>
          </a:p>
          <a:p>
            <a:r>
              <a:rPr lang="en-US" b="1" dirty="0">
                <a:solidFill>
                  <a:srgbClr val="B85042"/>
                </a:solidFill>
              </a:rPr>
              <a:t>Deeper OSINT</a:t>
            </a:r>
          </a:p>
          <a:p>
            <a:r>
              <a:rPr lang="en-US" sz="1600" dirty="0"/>
              <a:t>Estimate income and obligations to tailor loan sizes and monthly rates.</a:t>
            </a:r>
          </a:p>
          <a:p>
            <a:r>
              <a:rPr lang="en-US" b="1" dirty="0">
                <a:solidFill>
                  <a:srgbClr val="B85042"/>
                </a:solidFill>
              </a:rPr>
              <a:t>Live adaptive offers</a:t>
            </a:r>
          </a:p>
          <a:p>
            <a:r>
              <a:rPr lang="en-US" sz="1600" dirty="0"/>
              <a:t>Rewrite offers on-the-fly as new info surfaces during the sales call.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52" y="1152771"/>
            <a:ext cx="5431971" cy="846301"/>
          </a:xfrm>
        </p:spPr>
        <p:txBody>
          <a:bodyPr/>
          <a:lstStyle/>
          <a:p>
            <a:r>
              <a:rPr lang="en-US" dirty="0"/>
              <a:t>TRY David OUT NOW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237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LIVE 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0811" y="2798940"/>
            <a:ext cx="5431971" cy="557950"/>
          </a:xfrm>
        </p:spPr>
        <p:txBody>
          <a:bodyPr>
            <a:normAutofit lnSpcReduction="10000"/>
          </a:bodyPr>
          <a:lstStyle/>
          <a:p>
            <a:r>
              <a:rPr lang="en-US" sz="3200" b="1" noProof="1">
                <a:solidFill>
                  <a:srgbClr val="B85042"/>
                </a:solidFill>
              </a:rPr>
              <a:t>qhack.mehdy.eu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1237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BUILT WITH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0811" y="3898736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Next.js + FastAPI  •  Google Cloud APIs  •  Claude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9152" y="4486544"/>
            <a:ext cx="3112422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1"/>
              <a:t>Hosted with &lt;3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5A97EE-6711-1DC7-846A-AE3EF410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9" t="22970" b="31916"/>
          <a:stretch>
            <a:fillRect/>
          </a:stretch>
        </p:blipFill>
        <p:spPr>
          <a:xfrm>
            <a:off x="759684" y="4851669"/>
            <a:ext cx="1859078" cy="15331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9C4708-DC6A-A26C-02D6-BABD852A3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1231"/>
            <a:ext cx="5255537" cy="525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  <a:p>
            <a:r>
              <a:rPr lang="en-US" sz="2800" i="1" dirty="0">
                <a:solidFill>
                  <a:srgbClr val="B85042"/>
                </a:solidFill>
              </a:rPr>
              <a:t>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b="1" dirty="0"/>
              <a:t>Segfault after Midnight</a:t>
            </a:r>
          </a:p>
          <a:p>
            <a:r>
              <a:rPr lang="en-US" sz="1600" dirty="0">
                <a:solidFill>
                  <a:srgbClr val="6B5B45"/>
                </a:solidFill>
              </a:rPr>
              <a:t>Cloover Q-Hack 2026  •  Group 5</a:t>
            </a:r>
          </a:p>
          <a:p>
            <a:endParaRPr lang="en-US" sz="1200"/>
          </a:p>
          <a:p>
            <a:r>
              <a:rPr lang="en-US" sz="1600" i="1" dirty="0"/>
              <a:t>Live demo: qhack.mehdy.eu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7FB7A-FE9D-FF42-47C8-048780A7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98" y="4146487"/>
            <a:ext cx="1507401" cy="150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{339E57F5-BEC0-4D25-9FA0-0CB41C28F829}TF1ed81438-95a7-4ae9-841d-43ea2c64f7fc8ae7ff09_win32-aa52a5bb69e3</Template>
  <TotalTime>0</TotalTime>
  <Words>356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Monoline</vt:lpstr>
      <vt:lpstr>AI Sales Coach</vt:lpstr>
      <vt:lpstr>Introducing David your AI Sales Coach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 VS. OUR BUILD</vt:lpstr>
      <vt:lpstr>WHERE WE GO NEXT</vt:lpstr>
      <vt:lpstr>TRY David OUT NOW</vt:lpstr>
      <vt:lpstr>THANK YOU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Shinwari, Mehdy</dc:creator>
  <cp:lastModifiedBy>Shinwari, Mehdy</cp:lastModifiedBy>
  <cp:revision>6</cp:revision>
  <dcterms:created xsi:type="dcterms:W3CDTF">2026-04-09T07:54:21Z</dcterms:created>
  <dcterms:modified xsi:type="dcterms:W3CDTF">2026-04-09T09:41:29Z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