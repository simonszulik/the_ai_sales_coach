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90" r:id="rId7"/>
    <p:sldId id="291" r:id="rId8"/>
    <p:sldId id="277" r:id="rId9"/>
    <p:sldId id="289" r:id="rId10"/>
    <p:sldId id="268" r:id="rId11"/>
    <p:sldId id="264" r:id="rId12"/>
    <p:sldId id="278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5042"/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09" autoAdjust="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2026-04-09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2026-04-09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e Placeholder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32" name="Footer Placeholder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33" name="Slide Number Placeholder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 and tab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250D272-9B39-4C2D-B0F5-21010D11E43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48749" y="1361938"/>
            <a:ext cx="6765925" cy="496888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38200" y="2286002"/>
            <a:ext cx="6094270" cy="35421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39C283A-EC40-421C-8A0E-F9A3161C8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58125" y="2284624"/>
            <a:ext cx="3147332" cy="306388"/>
          </a:xfrm>
        </p:spPr>
        <p:txBody>
          <a:bodyPr>
            <a:noAutofit/>
          </a:bodyPr>
          <a:lstStyle>
            <a:lvl1pPr marL="0" indent="0">
              <a:buNone/>
              <a:defRPr sz="1400" cap="all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05CA2B1-D510-4949-A638-C1A064DA41A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858125" y="2779713"/>
            <a:ext cx="3148013" cy="3095625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914400" indent="0">
              <a:buNone/>
              <a:defRPr sz="105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034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701" r:id="rId14"/>
    <p:sldLayoutId id="2147483692" r:id="rId15"/>
    <p:sldLayoutId id="2147483681" r:id="rId16"/>
    <p:sldLayoutId id="2147483674" r:id="rId17"/>
    <p:sldLayoutId id="2147483675" r:id="rId18"/>
    <p:sldLayoutId id="2147483696" r:id="rId19"/>
    <p:sldLayoutId id="2147483677" r:id="rId20"/>
    <p:sldLayoutId id="2147483678" r:id="rId2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fif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3400000"/>
            <a:ext cx="4941771" cy="1122202"/>
          </a:xfrm>
        </p:spPr>
        <p:txBody>
          <a:bodyPr/>
          <a:lstStyle/>
          <a:p>
            <a:r>
              <a:rPr lang="en-US" dirty="0"/>
              <a:t>AI Sales Coach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4550000"/>
            <a:ext cx="5462106" cy="2100000"/>
          </a:xfrm>
        </p:spPr>
        <p:txBody>
          <a:bodyPr/>
          <a:lstStyle/>
          <a:p>
            <a:r>
              <a:rPr lang="en-US" sz="1600" b="1" dirty="0"/>
              <a:t>Team:</a:t>
            </a:r>
            <a:r>
              <a:rPr lang="en-US" sz="1600" dirty="0"/>
              <a:t> Segfault after Midnight</a:t>
            </a:r>
          </a:p>
          <a:p>
            <a:r>
              <a:rPr lang="en-US" sz="1600" b="1" dirty="0"/>
              <a:t>Group:</a:t>
            </a:r>
            <a:r>
              <a:rPr lang="en-US" sz="1600" dirty="0"/>
              <a:t> Cloover 5</a:t>
            </a:r>
          </a:p>
          <a:p>
            <a:endParaRPr lang="en-US" sz="1000" dirty="0"/>
          </a:p>
          <a:p>
            <a:r>
              <a:rPr lang="en-US" sz="1400" b="1" dirty="0"/>
              <a:t>Members</a:t>
            </a:r>
          </a:p>
          <a:p>
            <a:r>
              <a:rPr lang="en-US" sz="1400" i="1" dirty="0">
                <a:solidFill>
                  <a:srgbClr val="9A8A73"/>
                </a:solidFill>
              </a:rPr>
              <a:t>Simon Szulik, Mehdy Shinwari, Justin Weich, Valentina </a:t>
            </a:r>
            <a:r>
              <a:rPr lang="en-US" sz="1400" i="1" dirty="0" err="1">
                <a:solidFill>
                  <a:srgbClr val="9A8A73"/>
                </a:solidFill>
              </a:rPr>
              <a:t>Varnakhina</a:t>
            </a:r>
            <a:r>
              <a:rPr lang="en-US" sz="1400" i="1" dirty="0">
                <a:solidFill>
                  <a:srgbClr val="9A8A73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00000" y="2400000"/>
            <a:ext cx="5500000" cy="2200000"/>
          </a:xfrm>
        </p:spPr>
        <p:txBody>
          <a:bodyPr anchor="ctr"/>
          <a:lstStyle/>
          <a:p>
            <a:r>
              <a:rPr lang="en-US" sz="3600" dirty="0"/>
              <a:t>Introducing </a:t>
            </a:r>
            <a:r>
              <a:rPr lang="en-US" sz="3600" b="1" dirty="0">
                <a:solidFill>
                  <a:srgbClr val="B85042"/>
                </a:solidFill>
              </a:rPr>
              <a:t>David</a:t>
            </a:r>
          </a:p>
          <a:p>
            <a:r>
              <a:rPr lang="en-US" sz="2000" i="1" dirty="0">
                <a:solidFill>
                  <a:srgbClr val="6B5B45"/>
                </a:solidFill>
              </a:rPr>
              <a:t>your AI Sales Coach</a:t>
            </a:r>
          </a:p>
        </p:txBody>
      </p:sp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A373D-3C75-CBD2-6F18-DC39E772B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991030F-66A8-0285-8886-4FE6C178DC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09413-61B7-F733-291C-41085809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BF976-9199-C1C5-F10A-48E091316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5F8D41-9725-2B08-AB1A-2C25C64D1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870" y="334977"/>
            <a:ext cx="7486100" cy="5898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974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3CF28-6424-9667-1A6A-5F49F2215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B773B75-1437-A31D-E6D5-BA6A0129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3BF6E-B1F3-A2B1-E9BD-8683D9919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1622A-24C6-00CB-DC0B-77BC9D35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2970B0-67D1-273B-2CF9-D5EB71384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405" y="347344"/>
            <a:ext cx="7256396" cy="600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991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69DF042-37C5-4E09-AA4C-AA66649C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2209A-86B8-A1A5-CCDF-3DF5C3DD3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831" y="248615"/>
            <a:ext cx="7326553" cy="601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A74D661B-510C-4CF2-BF77-3EAFB649883D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7E44CAC0-3B5A-49F6-A2CB-0BC80D111A87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D1BD041-3428-4D62-934F-F3FF6D36F9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3200" b="1">
                <a:solidFill>
                  <a:srgbClr val="3A3A3A"/>
                </a:solidFill>
              </a:rPr>
              <a:t>ARCHITECTURE</a:t>
            </a:r>
          </a:p>
          <a:p>
            <a:r>
              <a:rPr sz="1300" i="1">
                <a:solidFill>
                  <a:srgbClr val="8A7A5E"/>
                </a:solidFill>
              </a:rPr>
              <a:t>How a lead becomes a live pitch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C40B33C-FC06-2F3B-2013-6DAABB1F909C}"/>
              </a:ext>
            </a:extLst>
          </p:cNvPr>
          <p:cNvGrpSpPr/>
          <p:nvPr/>
        </p:nvGrpSpPr>
        <p:grpSpPr>
          <a:xfrm>
            <a:off x="2273809" y="1318477"/>
            <a:ext cx="7589520" cy="548640"/>
            <a:chOff x="2301087" y="1234440"/>
            <a:chExt cx="7589520" cy="548640"/>
          </a:xfrm>
        </p:grpSpPr>
        <p:sp>
          <p:nvSpPr>
            <p:cNvPr id="24" name="Rounded Rectangle 23"/>
            <p:cNvSpPr/>
            <p:nvPr/>
          </p:nvSpPr>
          <p:spPr>
            <a:xfrm>
              <a:off x="2301087" y="1234440"/>
              <a:ext cx="7589520" cy="548640"/>
            </a:xfrm>
            <a:prstGeom prst="roundRect">
              <a:avLst/>
            </a:prstGeom>
            <a:solidFill>
              <a:srgbClr val="FFFFFF"/>
            </a:solidFill>
            <a:ln w="22225">
              <a:solidFill>
                <a:srgbClr val="B8504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85800" tIns="36576" rIns="182880" bIns="36576" rtlCol="0" anchor="ctr"/>
            <a:lstStyle/>
            <a:p>
              <a:pPr algn="l"/>
              <a:r>
                <a:rPr sz="1400" b="1" dirty="0">
                  <a:solidFill>
                    <a:srgbClr val="B85042"/>
                  </a:solidFill>
                </a:rPr>
                <a:t>INPUT</a:t>
              </a:r>
              <a:r>
                <a:rPr sz="1300" dirty="0">
                  <a:solidFill>
                    <a:srgbClr val="3A3A3A"/>
                  </a:solidFill>
                </a:rPr>
                <a:t>   Lead form — customer name + location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465679" y="1316736"/>
              <a:ext cx="384048" cy="384048"/>
            </a:xfrm>
            <a:prstGeom prst="ellipse">
              <a:avLst/>
            </a:prstGeom>
            <a:solidFill>
              <a:srgbClr val="B8504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1</a:t>
              </a:r>
            </a:p>
          </p:txBody>
        </p:sp>
      </p:grpSp>
      <p:sp>
        <p:nvSpPr>
          <p:cNvPr id="26" name="Down Arrow 25"/>
          <p:cNvSpPr/>
          <p:nvPr/>
        </p:nvSpPr>
        <p:spPr>
          <a:xfrm>
            <a:off x="5989320" y="1899403"/>
            <a:ext cx="201168" cy="182880"/>
          </a:xfrm>
          <a:prstGeom prst="down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4C20D84-BC1C-1395-0F63-230174CD5F59}"/>
              </a:ext>
            </a:extLst>
          </p:cNvPr>
          <p:cNvGrpSpPr/>
          <p:nvPr/>
        </p:nvGrpSpPr>
        <p:grpSpPr>
          <a:xfrm>
            <a:off x="2273809" y="2178530"/>
            <a:ext cx="7589520" cy="548640"/>
            <a:chOff x="2301087" y="2066544"/>
            <a:chExt cx="7589520" cy="548640"/>
          </a:xfrm>
        </p:grpSpPr>
        <p:sp>
          <p:nvSpPr>
            <p:cNvPr id="2" name="Rounded Rectangle 23">
              <a:extLst>
                <a:ext uri="{FF2B5EF4-FFF2-40B4-BE49-F238E27FC236}">
                  <a16:creationId xmlns:a16="http://schemas.microsoft.com/office/drawing/2014/main" id="{B0F4779C-5044-264F-0ECC-80819F642B2A}"/>
                </a:ext>
              </a:extLst>
            </p:cNvPr>
            <p:cNvSpPr/>
            <p:nvPr/>
          </p:nvSpPr>
          <p:spPr>
            <a:xfrm>
              <a:off x="2301087" y="2066544"/>
              <a:ext cx="7589520" cy="548640"/>
            </a:xfrm>
            <a:prstGeom prst="roundRect">
              <a:avLst/>
            </a:prstGeom>
            <a:solidFill>
              <a:srgbClr val="FFFFFF"/>
            </a:solidFill>
            <a:ln w="22225">
              <a:solidFill>
                <a:srgbClr val="B8504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85800" tIns="36576" rIns="182880" bIns="36576" rtlCol="0" anchor="ctr"/>
            <a:lstStyle/>
            <a:p>
              <a:pPr algn="l"/>
              <a:endParaRPr sz="1300" dirty="0">
                <a:solidFill>
                  <a:srgbClr val="3A3A3A"/>
                </a:solidFill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2465679" y="2145132"/>
              <a:ext cx="384048" cy="384048"/>
            </a:xfrm>
            <a:prstGeom prst="ellipse">
              <a:avLst/>
            </a:prstGeom>
            <a:solidFill>
              <a:srgbClr val="B8504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014319" y="2145132"/>
              <a:ext cx="3474720" cy="3840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l"/>
              <a:r>
                <a:rPr sz="1400" b="1" dirty="0">
                  <a:solidFill>
                    <a:srgbClr val="B85042"/>
                  </a:solidFill>
                </a:rPr>
                <a:t>ENRICHMENT</a:t>
              </a:r>
              <a:r>
                <a:rPr sz="1300" dirty="0">
                  <a:solidFill>
                    <a:srgbClr val="3A3A3A"/>
                  </a:solidFill>
                </a:rPr>
                <a:t>   7 parallel agents</a:t>
              </a:r>
            </a:p>
          </p:txBody>
        </p:sp>
      </p:grpSp>
      <p:sp>
        <p:nvSpPr>
          <p:cNvPr id="29" name="Rounded Rectangle 28"/>
          <p:cNvSpPr/>
          <p:nvPr/>
        </p:nvSpPr>
        <p:spPr>
          <a:xfrm>
            <a:off x="2250564" y="3004567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 dirty="0">
                <a:solidFill>
                  <a:srgbClr val="3A3A3A"/>
                </a:solidFill>
              </a:rPr>
              <a:t>Geocoding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6132" y="3004567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>
                <a:solidFill>
                  <a:srgbClr val="3A3A3A"/>
                </a:solidFill>
              </a:rPr>
              <a:t>Solar
potential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1700" y="3004567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>
                <a:solidFill>
                  <a:srgbClr val="3A3A3A"/>
                </a:solidFill>
              </a:rPr>
              <a:t>Energy
prices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97576" y="3004567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>
                <a:solidFill>
                  <a:srgbClr val="3A3A3A"/>
                </a:solidFill>
              </a:rPr>
              <a:t>Roof
analysis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13144" y="3008104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>
                <a:solidFill>
                  <a:srgbClr val="3A3A3A"/>
                </a:solidFill>
              </a:rPr>
              <a:t>OSINT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1940" y="3004567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>
                <a:solidFill>
                  <a:srgbClr val="3A3A3A"/>
                </a:solidFill>
              </a:rPr>
              <a:t>Subsidies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21344" y="3004567"/>
            <a:ext cx="941986" cy="63727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1000" b="1">
                <a:solidFill>
                  <a:srgbClr val="3A3A3A"/>
                </a:solidFill>
              </a:rPr>
              <a:t>Market
context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995263" y="3691359"/>
            <a:ext cx="181787" cy="169940"/>
          </a:xfrm>
          <a:prstGeom prst="down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301087" y="3904216"/>
            <a:ext cx="758952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36576" rIns="182880" bIns="36576" rtlCol="0" anchor="ctr"/>
          <a:lstStyle/>
          <a:p>
            <a:pPr algn="l"/>
            <a:r>
              <a:rPr sz="1400" b="1" dirty="0">
                <a:solidFill>
                  <a:srgbClr val="B85042"/>
                </a:solidFill>
              </a:rPr>
              <a:t>PIPELINE</a:t>
            </a:r>
            <a:r>
              <a:rPr sz="1300" dirty="0">
                <a:solidFill>
                  <a:srgbClr val="3A3A3A"/>
                </a:solidFill>
              </a:rPr>
              <a:t>   Opportunity score </a:t>
            </a:r>
            <a:r>
              <a:rPr lang="de-DE" sz="1300" dirty="0">
                <a:solidFill>
                  <a:srgbClr val="3A3A3A"/>
                </a:solidFill>
              </a:rPr>
              <a:t>+ </a:t>
            </a:r>
            <a:r>
              <a:rPr sz="1300" dirty="0">
                <a:solidFill>
                  <a:srgbClr val="3A3A3A"/>
                </a:solidFill>
              </a:rPr>
              <a:t>offer tiers + financing </a:t>
            </a:r>
            <a:r>
              <a:rPr lang="de-DE" sz="1300" dirty="0">
                <a:solidFill>
                  <a:srgbClr val="3A3A3A"/>
                </a:solidFill>
              </a:rPr>
              <a:t>+ </a:t>
            </a:r>
            <a:r>
              <a:rPr sz="1300" dirty="0">
                <a:solidFill>
                  <a:srgbClr val="3A3A3A"/>
                </a:solidFill>
              </a:rPr>
              <a:t>coaching tips</a:t>
            </a:r>
            <a:r>
              <a:rPr lang="de-DE" sz="1300" dirty="0">
                <a:solidFill>
                  <a:srgbClr val="3A3A3A"/>
                </a:solidFill>
              </a:rPr>
              <a:t> + </a:t>
            </a:r>
            <a:r>
              <a:rPr lang="de-DE" sz="1300" dirty="0" err="1">
                <a:solidFill>
                  <a:srgbClr val="3A3A3A"/>
                </a:solidFill>
              </a:rPr>
              <a:t>roof</a:t>
            </a:r>
            <a:r>
              <a:rPr lang="de-DE" sz="1300" dirty="0">
                <a:solidFill>
                  <a:srgbClr val="3A3A3A"/>
                </a:solidFill>
              </a:rPr>
              <a:t> </a:t>
            </a:r>
            <a:r>
              <a:rPr lang="de-DE" sz="1300" dirty="0" err="1">
                <a:solidFill>
                  <a:srgbClr val="3A3A3A"/>
                </a:solidFill>
              </a:rPr>
              <a:t>analysis</a:t>
            </a:r>
            <a:endParaRPr sz="1300" dirty="0">
              <a:solidFill>
                <a:srgbClr val="3A3A3A"/>
              </a:solidFill>
            </a:endParaRPr>
          </a:p>
        </p:txBody>
      </p:sp>
      <p:sp>
        <p:nvSpPr>
          <p:cNvPr id="38" name="Oval 37"/>
          <p:cNvSpPr/>
          <p:nvPr/>
        </p:nvSpPr>
        <p:spPr>
          <a:xfrm>
            <a:off x="2465679" y="3980171"/>
            <a:ext cx="384048" cy="38404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5989320" y="4525265"/>
            <a:ext cx="201168" cy="182880"/>
          </a:xfrm>
          <a:prstGeom prst="down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301087" y="4757412"/>
            <a:ext cx="758952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36576" rIns="182880" bIns="36576" rtlCol="0" anchor="ctr"/>
          <a:lstStyle/>
          <a:p>
            <a:pPr algn="l"/>
            <a:r>
              <a:rPr sz="1400" b="1" dirty="0">
                <a:solidFill>
                  <a:srgbClr val="B85042"/>
                </a:solidFill>
              </a:rPr>
              <a:t>OUTPUT</a:t>
            </a:r>
            <a:r>
              <a:rPr sz="1300" dirty="0">
                <a:solidFill>
                  <a:srgbClr val="3A3A3A"/>
                </a:solidFill>
              </a:rPr>
              <a:t>   Dashboard</a:t>
            </a:r>
            <a:r>
              <a:rPr lang="de-DE" sz="1300" dirty="0">
                <a:solidFill>
                  <a:srgbClr val="3A3A3A"/>
                </a:solidFill>
              </a:rPr>
              <a:t>:</a:t>
            </a:r>
            <a:r>
              <a:rPr sz="1300" dirty="0">
                <a:solidFill>
                  <a:srgbClr val="3A3A3A"/>
                </a:solidFill>
              </a:rPr>
              <a:t> Overview · Roof · Offers · Market · Pitch Assistant</a:t>
            </a:r>
          </a:p>
        </p:txBody>
      </p:sp>
      <p:sp>
        <p:nvSpPr>
          <p:cNvPr id="41" name="Oval 40"/>
          <p:cNvSpPr/>
          <p:nvPr/>
        </p:nvSpPr>
        <p:spPr>
          <a:xfrm>
            <a:off x="2465679" y="4855465"/>
            <a:ext cx="384048" cy="38404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01087" y="5543795"/>
            <a:ext cx="7589520" cy="384048"/>
          </a:xfrm>
          <a:prstGeom prst="round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ctr"/>
            <a:r>
              <a:rPr sz="1100" b="1">
                <a:solidFill>
                  <a:srgbClr val="E7E8D1"/>
                </a:solidFill>
              </a:rPr>
              <a:t>CI / CD   </a:t>
            </a:r>
            <a:r>
              <a:rPr sz="1100">
                <a:solidFill>
                  <a:srgbClr val="FFFFFF"/>
                </a:solidFill>
              </a:rPr>
              <a:t>push  →  auto-pull  →  containers rebuild  →  live in prod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981D5A-30AD-8750-D073-502263156778}"/>
              </a:ext>
            </a:extLst>
          </p:cNvPr>
          <p:cNvCxnSpPr>
            <a:stCxn id="29" idx="0"/>
          </p:cNvCxnSpPr>
          <p:nvPr/>
        </p:nvCxnSpPr>
        <p:spPr>
          <a:xfrm>
            <a:off x="2721557" y="3004567"/>
            <a:ext cx="949618" cy="865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5E6B74-6194-D232-9882-6DE6D82B04C5}"/>
              </a:ext>
            </a:extLst>
          </p:cNvPr>
          <p:cNvCxnSpPr>
            <a:cxnSpLocks/>
          </p:cNvCxnSpPr>
          <p:nvPr/>
        </p:nvCxnSpPr>
        <p:spPr>
          <a:xfrm>
            <a:off x="2721557" y="3004567"/>
            <a:ext cx="964614" cy="865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own Arrow 25">
            <a:extLst>
              <a:ext uri="{FF2B5EF4-FFF2-40B4-BE49-F238E27FC236}">
                <a16:creationId xmlns:a16="http://schemas.microsoft.com/office/drawing/2014/main" id="{2305C578-1E6C-454A-B354-E57D6FD09078}"/>
              </a:ext>
            </a:extLst>
          </p:cNvPr>
          <p:cNvSpPr/>
          <p:nvPr/>
        </p:nvSpPr>
        <p:spPr>
          <a:xfrm>
            <a:off x="5977675" y="2766824"/>
            <a:ext cx="181787" cy="169940"/>
          </a:xfrm>
          <a:prstGeom prst="down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844941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892177"/>
            <a:ext cx="8421688" cy="1325563"/>
          </a:xfrm>
        </p:spPr>
        <p:txBody>
          <a:bodyPr/>
          <a:lstStyle/>
          <a:p>
            <a:r>
              <a:rPr lang="en-US" dirty="0"/>
              <a:t>CHALLENGE VS. OUR BUILD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657664-A458-4DDD-ACC2-1D87FCD6F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0" y="2776936"/>
            <a:ext cx="3924300" cy="823912"/>
          </a:xfrm>
        </p:spPr>
        <p:txBody>
          <a:bodyPr/>
          <a:lstStyle/>
          <a:p>
            <a:r>
              <a:rPr lang="en-US" dirty="0"/>
              <a:t>CHALLENGE PILLARS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b="1" noProof="1"/>
              <a:t>Market &amp; regulatory context</a:t>
            </a:r>
            <a:br>
              <a:rPr lang="en-US" noProof="1"/>
            </a:br>
            <a:r>
              <a:rPr lang="en-US" noProof="1"/>
              <a:t>Energy price trends, carbon pricing, subsidies, regulations, why now</a:t>
            </a:r>
          </a:p>
          <a:p>
            <a:r>
              <a:rPr lang="en-US" b="1" noProof="1"/>
              <a:t>Compelling offer</a:t>
            </a:r>
            <a:br>
              <a:rPr lang="en-US" noProof="1"/>
            </a:br>
            <a:r>
              <a:rPr lang="en-US" noProof="1"/>
              <a:t>2–3 personalised packages at different levels of ambition with justifications</a:t>
            </a:r>
          </a:p>
          <a:p>
            <a:r>
              <a:rPr lang="en-US" b="1" noProof="1"/>
              <a:t>Financing strategy</a:t>
            </a:r>
            <a:br>
              <a:rPr lang="en-US" noProof="1"/>
            </a:br>
            <a:r>
              <a:rPr lang="en-US" noProof="1"/>
              <a:t>Cash, partial financing, full financing scenarios with subsidies integrated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78017FE-712E-4E95-B483-B700F1AA4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10173" y="2776936"/>
            <a:ext cx="3943627" cy="823912"/>
          </a:xfrm>
        </p:spPr>
        <p:txBody>
          <a:bodyPr/>
          <a:lstStyle/>
          <a:p>
            <a:r>
              <a:rPr lang="en-US" dirty="0"/>
              <a:t>WHAT WE BUILT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0E0ACA0-9139-4C37-920D-BF3C1FF461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 fontScale="92500" lnSpcReduction="10000"/>
          </a:bodyPr>
          <a:lstStyle/>
          <a:p>
            <a:r>
              <a:rPr lang="en-US" b="1" noProof="1"/>
              <a:t>Sourcing via orchestrated agents</a:t>
            </a:r>
            <a:br>
              <a:rPr lang="en-US" noProof="1"/>
            </a:br>
            <a:r>
              <a:rPr lang="en-US" noProof="1"/>
              <a:t>7 parallel agents: roof, solar, energy, subsidies, OSINT, market.</a:t>
            </a:r>
          </a:p>
          <a:p>
            <a:r>
              <a:rPr lang="en-US" b="1" noProof="1"/>
              <a:t>3 offer tiers + pitch assistant</a:t>
            </a:r>
            <a:br>
              <a:rPr lang="en-US" noProof="1"/>
            </a:br>
            <a:r>
              <a:rPr lang="en-US" noProof="1"/>
              <a:t>Good / Better / Best with cash, loan and lease scenarios and concrete advice for sales pitch</a:t>
            </a:r>
          </a:p>
          <a:p>
            <a:r>
              <a:rPr lang="en-US" b="1" noProof="1"/>
              <a:t>Financing scenarios</a:t>
            </a:r>
            <a:br>
              <a:rPr lang="en-US" noProof="1"/>
            </a:br>
            <a:r>
              <a:rPr lang="en-US" noProof="1"/>
              <a:t>Concrete financing scenarios integrated with locally available subsidies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5909F2DC-F097-42AB-88E7-0CA09BD5E2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F4A37AA9-0BEE-42AC-8CC0-AE5B8663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52A75-1CD2-44EC-9374-C83D4604A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1671639"/>
            <a:ext cx="5111750" cy="1204912"/>
          </a:xfrm>
        </p:spPr>
        <p:txBody>
          <a:bodyPr/>
          <a:lstStyle/>
          <a:p>
            <a:r>
              <a:rPr lang="en-US" dirty="0"/>
              <a:t>WHERE WE GO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100000"/>
            <a:ext cx="5111750" cy="31000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rgbClr val="B85042"/>
                </a:solidFill>
              </a:rPr>
              <a:t>SCHUFA integration</a:t>
            </a:r>
          </a:p>
          <a:p>
            <a:r>
              <a:rPr lang="en-US" sz="1600" dirty="0"/>
              <a:t>Pull credit score to sharpen financing tiers and risk-adjusted pricing.</a:t>
            </a:r>
          </a:p>
          <a:p>
            <a:r>
              <a:rPr lang="en-US" b="1" dirty="0">
                <a:solidFill>
                  <a:srgbClr val="B85042"/>
                </a:solidFill>
              </a:rPr>
              <a:t>Deeper OSINT</a:t>
            </a:r>
          </a:p>
          <a:p>
            <a:r>
              <a:rPr lang="en-US" sz="1600" dirty="0"/>
              <a:t>Estimate income and obligations to tailor loan sizes and monthly rates.</a:t>
            </a:r>
          </a:p>
          <a:p>
            <a:r>
              <a:rPr lang="en-US" b="1" dirty="0">
                <a:solidFill>
                  <a:srgbClr val="B85042"/>
                </a:solidFill>
              </a:rPr>
              <a:t>Live adaptive offers</a:t>
            </a:r>
          </a:p>
          <a:p>
            <a:r>
              <a:rPr lang="en-US" sz="1600" dirty="0"/>
              <a:t>Rewrite offers on-the-fly as new info surfaces during the sales call.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ACA2A-6BBE-47CF-B76F-F56C9DBF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A095E-DB05-47EC-A2D5-47398A4A0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E0A63-A388-49B1-A04E-27CE9BD62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52" y="1152771"/>
            <a:ext cx="5431971" cy="846301"/>
          </a:xfrm>
        </p:spPr>
        <p:txBody>
          <a:bodyPr/>
          <a:lstStyle/>
          <a:p>
            <a:r>
              <a:rPr lang="en-US" dirty="0"/>
              <a:t>TRY David OUT NOW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40DF9D-0C9E-4C5D-9635-6B4DE10CCE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1237" y="2469515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1"/>
              <a:t>LIVE AT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0297407-CE4E-4284-879D-AEC3957136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0811" y="2798940"/>
            <a:ext cx="5431971" cy="557950"/>
          </a:xfrm>
        </p:spPr>
        <p:txBody>
          <a:bodyPr>
            <a:normAutofit lnSpcReduction="10000"/>
          </a:bodyPr>
          <a:lstStyle/>
          <a:p>
            <a:r>
              <a:rPr lang="en-US" sz="3200" b="1" noProof="1">
                <a:solidFill>
                  <a:srgbClr val="B85042"/>
                </a:solidFill>
              </a:rPr>
              <a:t>qhack.mehdy.eu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5C3A7BE-F7FC-4942-A31A-491A8A80610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1237" y="3569311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1"/>
              <a:t>BUILT WITH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5CCE699-03D1-4642-B46A-B14EF17DA1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0811" y="3898736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Next.js + FastAPI  •  Google Cloud APIs  •  Claude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1DF189-6F2F-4C21-88CC-C82D3D0D147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9152" y="4486544"/>
            <a:ext cx="3112422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noProof="1"/>
              <a:t>Hosted with &lt;3</a:t>
            </a:r>
          </a:p>
        </p:txBody>
      </p:sp>
      <p:sp>
        <p:nvSpPr>
          <p:cNvPr id="32" name="Date Placeholder 31">
            <a:extLst>
              <a:ext uri="{FF2B5EF4-FFF2-40B4-BE49-F238E27FC236}">
                <a16:creationId xmlns:a16="http://schemas.microsoft.com/office/drawing/2014/main" id="{D5DB19F8-B538-4965-BA90-ED372B99F5DC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5C44B1-BA82-483C-BD91-F89067442F9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5A97EE-6711-1DC7-846A-AE3EF41039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9" t="22970" b="31916"/>
          <a:stretch>
            <a:fillRect/>
          </a:stretch>
        </p:blipFill>
        <p:spPr>
          <a:xfrm>
            <a:off x="759684" y="4851669"/>
            <a:ext cx="1859078" cy="1533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69C4708-DC6A-A26C-02D6-BABD852A3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01231"/>
            <a:ext cx="5255537" cy="525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  <a:p>
            <a:r>
              <a:rPr lang="en-US" sz="2800" i="1" dirty="0">
                <a:solidFill>
                  <a:srgbClr val="B85042"/>
                </a:solidFill>
              </a:rPr>
              <a:t>&amp;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/>
          <a:p>
            <a:r>
              <a:rPr lang="en-US" b="1" dirty="0"/>
              <a:t>Segfault after Midnight</a:t>
            </a:r>
          </a:p>
          <a:p>
            <a:r>
              <a:rPr lang="en-US" sz="1600" dirty="0">
                <a:solidFill>
                  <a:srgbClr val="6B5B45"/>
                </a:solidFill>
              </a:rPr>
              <a:t>Cloover Q-Hack 2026  •  Group 5</a:t>
            </a:r>
          </a:p>
          <a:p>
            <a:endParaRPr lang="en-US" sz="1200"/>
          </a:p>
          <a:p>
            <a:r>
              <a:rPr lang="en-US" sz="1600" i="1" dirty="0"/>
              <a:t>Live demo: qhack.mehdy.eu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DA7980-C870-4C9A-84FA-4120D8AF5D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ADE42-1A3F-40C8-A071-E57644F3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7FB7A-FE9D-FF42-47C8-048780A7D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798" y="4146487"/>
            <a:ext cx="1507401" cy="150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{339E57F5-BEC0-4D25-9FA0-0CB41C28F829}TF1ed81438-95a7-4ae9-841d-43ea2c64f7fc8ae7ff09_win32-aa52a5bb69e3</Template>
  <TotalTime>0</TotalTime>
  <Words>348</Words>
  <Application>Microsoft Office PowerPoint</Application>
  <PresentationFormat>Widescreen</PresentationFormat>
  <Paragraphs>78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Tenorite</vt:lpstr>
      <vt:lpstr>Monoline</vt:lpstr>
      <vt:lpstr>AI Sales Coach</vt:lpstr>
      <vt:lpstr>Introducing David your AI Sales Coach</vt:lpstr>
      <vt:lpstr>PowerPoint Presentation</vt:lpstr>
      <vt:lpstr>PowerPoint Presentation</vt:lpstr>
      <vt:lpstr>PowerPoint Presentation</vt:lpstr>
      <vt:lpstr>PowerPoint Presentation</vt:lpstr>
      <vt:lpstr>CHALLENGE VS. OUR BUILD</vt:lpstr>
      <vt:lpstr>WHERE WE GO NEXT</vt:lpstr>
      <vt:lpstr>TRY David OUT NOW</vt:lpstr>
      <vt:lpstr>THANK YOU &amp;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Shinwari, Mehdy</dc:creator>
  <cp:lastModifiedBy>Shinwari, Mehdy</cp:lastModifiedBy>
  <cp:revision>4</cp:revision>
  <dcterms:created xsi:type="dcterms:W3CDTF">2026-04-09T07:54:21Z</dcterms:created>
  <dcterms:modified xsi:type="dcterms:W3CDTF">2026-04-09T09:28:47Z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